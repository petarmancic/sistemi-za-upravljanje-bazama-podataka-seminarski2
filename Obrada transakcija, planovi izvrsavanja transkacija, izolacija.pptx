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19-01-26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19-01-26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19-01-26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19-01-26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19-01-26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19-01-26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19-01-26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19-01-26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19-01-26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19-01-26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C7D46A-7E68-7C32-3FA8-0031DFED82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Obrada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transakcija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planovi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izvrsavanja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transkacija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izolacija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zakljucavanje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kod </a:t>
            </a:r>
            <a:r>
              <a:rPr lang="en-US" sz="32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Mongo DB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baze podataka</a:t>
            </a:r>
            <a:endParaRPr lang="en-US" sz="32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74FF26B-7B27-39BD-4ED7-A9A3DD70A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8431" y="3649578"/>
            <a:ext cx="6815138" cy="1320800"/>
          </a:xfrm>
        </p:spPr>
        <p:txBody>
          <a:bodyPr>
            <a:normAutofit fontScale="92500" lnSpcReduction="20000"/>
          </a:bodyPr>
          <a:lstStyle/>
          <a:p>
            <a:br>
              <a:rPr lang="sr-Latn-RS" dirty="0"/>
            </a:br>
            <a:r>
              <a:rPr lang="en-US" dirty="0" err="1"/>
              <a:t>Sistemi</a:t>
            </a:r>
            <a:r>
              <a:rPr lang="en-US" dirty="0"/>
              <a:t> za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bazama</a:t>
            </a:r>
            <a:r>
              <a:rPr lang="en-US" dirty="0"/>
              <a:t> podataka</a:t>
            </a:r>
            <a:endParaRPr lang="sr-Latn-RS" dirty="0"/>
          </a:p>
          <a:p>
            <a:r>
              <a:rPr lang="sr-Latn-RS" dirty="0"/>
              <a:t>					</a:t>
            </a:r>
          </a:p>
          <a:p>
            <a:r>
              <a:rPr lang="sr-Latn-RS" dirty="0"/>
              <a:t>										</a:t>
            </a:r>
            <a:r>
              <a:rPr lang="en-US" dirty="0"/>
              <a:t>Petar Man</a:t>
            </a:r>
            <a:r>
              <a:rPr lang="sr-Latn-RS" dirty="0"/>
              <a:t>čić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068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5F61C-F1BF-EFE5-3A56-7806C94CC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Sadržaj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7B23B-039D-C86B-0E97-AC1DDAEAB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Uvod i cilj projekta</a:t>
            </a:r>
          </a:p>
          <a:p>
            <a:r>
              <a:rPr lang="sr-Latn-RS" dirty="0"/>
              <a:t>Transkacije</a:t>
            </a:r>
          </a:p>
          <a:p>
            <a:r>
              <a:rPr lang="sr-Latn-RS" dirty="0"/>
              <a:t>Obrada transkacije i planovi izvršenja transkacija</a:t>
            </a:r>
          </a:p>
          <a:p>
            <a:r>
              <a:rPr lang="sr-Latn-RS" dirty="0"/>
              <a:t>Izolacija u </a:t>
            </a:r>
            <a:r>
              <a:rPr lang="sr-Latn-RS" i="1" dirty="0"/>
              <a:t>MongoDB</a:t>
            </a:r>
          </a:p>
          <a:p>
            <a:r>
              <a:rPr lang="sr-Latn-RS" dirty="0"/>
              <a:t>Zaključavanje u </a:t>
            </a:r>
            <a:r>
              <a:rPr lang="sr-Latn-RS" i="1" dirty="0"/>
              <a:t>MongoDB</a:t>
            </a:r>
          </a:p>
          <a:p>
            <a:r>
              <a:rPr lang="sr-Latn-RS" dirty="0"/>
              <a:t>Praktični primeri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721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22104-20D4-2781-6424-AE5AD0B3A2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18673" y="677861"/>
            <a:ext cx="9761622" cy="749888"/>
          </a:xfrm>
        </p:spPr>
        <p:txBody>
          <a:bodyPr>
            <a:normAutofit fontScale="90000"/>
          </a:bodyPr>
          <a:lstStyle/>
          <a:p>
            <a:r>
              <a:rPr lang="sr-Latn-RS" dirty="0"/>
              <a:t>Uvod i cilj projekta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1B585-FCE8-CBDB-EEEE-B6EB84C67AB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18673" y="1748590"/>
            <a:ext cx="9963150" cy="4580019"/>
          </a:xfrm>
        </p:spPr>
        <p:txBody>
          <a:bodyPr>
            <a:normAutofit/>
          </a:bodyPr>
          <a:lstStyle/>
          <a:p>
            <a:r>
              <a:rPr lang="en-US" sz="2000" b="1" dirty="0" err="1"/>
              <a:t>Evolucija</a:t>
            </a:r>
            <a:r>
              <a:rPr lang="en-US" sz="2000" b="1" dirty="0"/>
              <a:t> MongoDB-a:</a:t>
            </a:r>
            <a:r>
              <a:rPr lang="en-US" sz="2000" dirty="0"/>
              <a:t> </a:t>
            </a:r>
            <a:r>
              <a:rPr lang="en-US" sz="2000" dirty="0" err="1"/>
              <a:t>Prelazak</a:t>
            </a:r>
            <a:r>
              <a:rPr lang="en-US" sz="2000" dirty="0"/>
              <a:t> 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jednostavnog</a:t>
            </a:r>
            <a:r>
              <a:rPr lang="en-US" sz="2000" dirty="0"/>
              <a:t> </a:t>
            </a:r>
            <a:r>
              <a:rPr lang="en-US" sz="2000" dirty="0" err="1"/>
              <a:t>čuvanja</a:t>
            </a:r>
            <a:r>
              <a:rPr lang="en-US" sz="2000" dirty="0"/>
              <a:t> </a:t>
            </a:r>
            <a:r>
              <a:rPr lang="en-US" sz="2000" dirty="0" err="1"/>
              <a:t>dokumenata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podršku</a:t>
            </a:r>
            <a:r>
              <a:rPr lang="en-US" sz="2000" dirty="0"/>
              <a:t> za </a:t>
            </a:r>
            <a:r>
              <a:rPr lang="en-US" sz="2000" dirty="0" err="1"/>
              <a:t>kompleksne</a:t>
            </a:r>
            <a:r>
              <a:rPr lang="en-US" sz="2000" dirty="0"/>
              <a:t> ACID </a:t>
            </a:r>
            <a:r>
              <a:rPr lang="en-US" sz="2000" dirty="0" err="1"/>
              <a:t>transakcije</a:t>
            </a:r>
            <a:r>
              <a:rPr lang="en-US" sz="2000" dirty="0"/>
              <a:t> (od </a:t>
            </a:r>
            <a:r>
              <a:rPr lang="en-US" sz="2000" dirty="0" err="1"/>
              <a:t>verzije</a:t>
            </a:r>
            <a:r>
              <a:rPr lang="en-US" sz="2000" dirty="0"/>
              <a:t> 4.0)</a:t>
            </a:r>
            <a:endParaRPr lang="sr-Latn-RS" sz="2000" dirty="0"/>
          </a:p>
          <a:p>
            <a:r>
              <a:rPr lang="en-US" sz="2000" b="1" dirty="0"/>
              <a:t>Problem:</a:t>
            </a:r>
            <a:r>
              <a:rPr lang="en-US" sz="2000" dirty="0"/>
              <a:t> Kako </a:t>
            </a:r>
            <a:r>
              <a:rPr lang="en-US" sz="2000" dirty="0" err="1"/>
              <a:t>obezbediti</a:t>
            </a:r>
            <a:r>
              <a:rPr lang="en-US" sz="2000" dirty="0"/>
              <a:t> </a:t>
            </a:r>
            <a:r>
              <a:rPr lang="en-US" sz="2000" dirty="0" err="1"/>
              <a:t>integritet</a:t>
            </a:r>
            <a:r>
              <a:rPr lang="en-US" sz="2000" dirty="0"/>
              <a:t> podataka u </a:t>
            </a:r>
            <a:r>
              <a:rPr lang="en-US" sz="2000" dirty="0" err="1"/>
              <a:t>distribuiranom</a:t>
            </a:r>
            <a:r>
              <a:rPr lang="en-US" sz="2000" dirty="0"/>
              <a:t> </a:t>
            </a:r>
            <a:r>
              <a:rPr lang="en-US" sz="2000" dirty="0" err="1"/>
              <a:t>sistemu</a:t>
            </a:r>
            <a:r>
              <a:rPr lang="en-US" sz="2000" dirty="0"/>
              <a:t> bez </a:t>
            </a:r>
            <a:r>
              <a:rPr lang="en-US" sz="2000" dirty="0" err="1"/>
              <a:t>žrtvovanja</a:t>
            </a:r>
            <a:r>
              <a:rPr lang="en-US" sz="2000" dirty="0"/>
              <a:t> </a:t>
            </a:r>
            <a:r>
              <a:rPr lang="en-US" sz="2000" dirty="0" err="1"/>
              <a:t>performansi</a:t>
            </a:r>
            <a:r>
              <a:rPr lang="en-US" sz="2000" dirty="0"/>
              <a:t>?</a:t>
            </a:r>
            <a:endParaRPr lang="sr-Latn-RS" sz="2000" dirty="0"/>
          </a:p>
          <a:p>
            <a:r>
              <a:rPr lang="en-US" sz="2000" b="1" dirty="0"/>
              <a:t>Predmet </a:t>
            </a:r>
            <a:r>
              <a:rPr lang="en-US" sz="2000" b="1" dirty="0" err="1"/>
              <a:t>analize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Mehanizmi</a:t>
            </a:r>
            <a:r>
              <a:rPr lang="en-US" sz="2000" dirty="0"/>
              <a:t> koji </a:t>
            </a:r>
            <a:r>
              <a:rPr lang="en-US" sz="2000" dirty="0" err="1"/>
              <a:t>garantuju</a:t>
            </a:r>
            <a:r>
              <a:rPr lang="en-US" sz="2000" dirty="0"/>
              <a:t> da se niz </a:t>
            </a:r>
            <a:r>
              <a:rPr lang="en-US" sz="2000" dirty="0" err="1"/>
              <a:t>operacija</a:t>
            </a:r>
            <a:r>
              <a:rPr lang="en-US" sz="2000" dirty="0"/>
              <a:t> </a:t>
            </a:r>
            <a:r>
              <a:rPr lang="en-US" sz="2000" dirty="0" err="1"/>
              <a:t>izvrši</a:t>
            </a:r>
            <a:r>
              <a:rPr lang="en-US" sz="2000" dirty="0"/>
              <a:t> po </a:t>
            </a:r>
            <a:r>
              <a:rPr lang="en-US" sz="2000" dirty="0" err="1"/>
              <a:t>principu</a:t>
            </a:r>
            <a:r>
              <a:rPr lang="en-US" sz="2000" dirty="0"/>
              <a:t> "sve </a:t>
            </a:r>
            <a:r>
              <a:rPr lang="en-US" sz="2000" dirty="0" err="1"/>
              <a:t>ili</a:t>
            </a:r>
            <a:r>
              <a:rPr lang="en-US" sz="2000" dirty="0"/>
              <a:t> </a:t>
            </a:r>
            <a:r>
              <a:rPr lang="en-US" sz="2000" dirty="0" err="1"/>
              <a:t>ništa</a:t>
            </a:r>
            <a:r>
              <a:rPr lang="en-US" sz="2000" dirty="0"/>
              <a:t>„</a:t>
            </a:r>
            <a:endParaRPr lang="sr-Latn-RS" sz="2000" dirty="0"/>
          </a:p>
          <a:p>
            <a:r>
              <a:rPr lang="en-US" sz="2000" b="1" dirty="0" err="1"/>
              <a:t>Cilj</a:t>
            </a:r>
            <a:r>
              <a:rPr lang="en-US" sz="2000" b="1" dirty="0"/>
              <a:t> </a:t>
            </a:r>
            <a:r>
              <a:rPr lang="en-US" sz="2000" b="1" dirty="0" err="1"/>
              <a:t>rada</a:t>
            </a:r>
            <a:r>
              <a:rPr lang="en-US" sz="2000" b="1" dirty="0"/>
              <a:t>: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Razumevanje</a:t>
            </a:r>
            <a:r>
              <a:rPr lang="en-US" dirty="0"/>
              <a:t> </a:t>
            </a:r>
            <a:r>
              <a:rPr lang="en-US" dirty="0" err="1"/>
              <a:t>rada</a:t>
            </a:r>
            <a:r>
              <a:rPr lang="en-US" dirty="0"/>
              <a:t> </a:t>
            </a:r>
            <a:r>
              <a:rPr lang="en-US" b="1" dirty="0" err="1"/>
              <a:t>WiredTiger</a:t>
            </a:r>
            <a:r>
              <a:rPr lang="en-US" dirty="0"/>
              <a:t> engine-a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načina</a:t>
            </a:r>
            <a:r>
              <a:rPr lang="en-US" dirty="0"/>
              <a:t> </a:t>
            </a:r>
            <a:r>
              <a:rPr lang="en-US" dirty="0" err="1"/>
              <a:t>zaključavanja</a:t>
            </a:r>
            <a:r>
              <a:rPr lang="en-U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Analiza </a:t>
            </a:r>
            <a:r>
              <a:rPr lang="en-US" dirty="0" err="1"/>
              <a:t>nivoa</a:t>
            </a:r>
            <a:r>
              <a:rPr lang="en-US" dirty="0"/>
              <a:t> </a:t>
            </a:r>
            <a:r>
              <a:rPr lang="en-US" dirty="0" err="1"/>
              <a:t>izolacije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rešavanje</a:t>
            </a:r>
            <a:r>
              <a:rPr lang="en-US" dirty="0"/>
              <a:t> </a:t>
            </a:r>
            <a:r>
              <a:rPr lang="en-US" dirty="0" err="1"/>
              <a:t>konflikata</a:t>
            </a:r>
            <a:r>
              <a:rPr lang="en-US" dirty="0"/>
              <a:t>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konkurentnom</a:t>
            </a:r>
            <a:r>
              <a:rPr lang="en-US" dirty="0"/>
              <a:t> </a:t>
            </a:r>
            <a:r>
              <a:rPr lang="en-US" dirty="0" err="1"/>
              <a:t>pristupu</a:t>
            </a:r>
            <a:r>
              <a:rPr lang="en-U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Demonstracija</a:t>
            </a:r>
            <a:r>
              <a:rPr lang="en-US" dirty="0"/>
              <a:t> </a:t>
            </a:r>
            <a:r>
              <a:rPr lang="en-US" dirty="0" err="1"/>
              <a:t>praktične</a:t>
            </a:r>
            <a:r>
              <a:rPr lang="en-US" dirty="0"/>
              <a:t> </a:t>
            </a:r>
            <a:r>
              <a:rPr lang="en-US" dirty="0" err="1"/>
              <a:t>primene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 kroz </a:t>
            </a:r>
            <a:r>
              <a:rPr lang="en-US" dirty="0" err="1"/>
              <a:t>konkretne</a:t>
            </a:r>
            <a:r>
              <a:rPr lang="en-US" dirty="0"/>
              <a:t> </a:t>
            </a:r>
            <a:r>
              <a:rPr lang="en-US" dirty="0" err="1"/>
              <a:t>primere</a:t>
            </a:r>
            <a:r>
              <a:rPr lang="en-US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6925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5C4CD-83AA-38CB-16FC-85146EA1672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5400" y="677864"/>
            <a:ext cx="9601200" cy="822074"/>
          </a:xfrm>
        </p:spPr>
        <p:txBody>
          <a:bodyPr/>
          <a:lstStyle/>
          <a:p>
            <a:r>
              <a:rPr lang="sr-Latn-RS" dirty="0"/>
              <a:t>Transkacije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AC68A-7F40-568F-0C35-27F3EC0B1E0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58779" y="1770062"/>
            <a:ext cx="9601200" cy="4410074"/>
          </a:xfrm>
        </p:spPr>
        <p:txBody>
          <a:bodyPr/>
          <a:lstStyle/>
          <a:p>
            <a:r>
              <a:rPr lang="sr-Latn-RS" dirty="0"/>
              <a:t>Transkacije su sekvenca jedne ili više operacija nad bazom podataka koje se izvršavaju kao jedna neraskidiva celina</a:t>
            </a:r>
          </a:p>
          <a:p>
            <a:r>
              <a:rPr lang="sr-Latn-RS" dirty="0"/>
              <a:t>Transkacije zadovoljavaju svojstvo </a:t>
            </a:r>
            <a:r>
              <a:rPr lang="sr-Latn-RS" b="1" dirty="0"/>
              <a:t>ACID</a:t>
            </a:r>
            <a:endParaRPr lang="sr-Latn-RS" dirty="0"/>
          </a:p>
          <a:p>
            <a:r>
              <a:rPr lang="sr-Latn-RS" sz="2000" b="1" dirty="0"/>
              <a:t>Atomicity-</a:t>
            </a:r>
            <a:r>
              <a:rPr lang="sr-Latn-RS" b="1" dirty="0"/>
              <a:t>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govori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 tome da se sve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naredbe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transakcije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izvršavaju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kao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jedinstvena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celina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ili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uopšte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ne izvrsavaju</a:t>
            </a:r>
            <a:endParaRPr lang="sr-Latn-R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r-Latn-RS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Consistency- </a:t>
            </a:r>
            <a:r>
              <a:rPr lang="en-US" sz="2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garantuje</a:t>
            </a:r>
            <a:r>
              <a:rPr lang="en-US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da se baza podataka nakon </a:t>
            </a:r>
            <a:endParaRPr lang="sr-Latn-RS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transakcije</a:t>
            </a:r>
            <a:r>
              <a:rPr lang="en-US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prevodi</a:t>
            </a:r>
            <a:r>
              <a:rPr lang="en-US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iz jednog </a:t>
            </a:r>
            <a:r>
              <a:rPr lang="en-US" sz="2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konzistentnog</a:t>
            </a:r>
            <a:r>
              <a:rPr lang="en-US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stanja</a:t>
            </a:r>
            <a:r>
              <a:rPr lang="en-US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u drugo </a:t>
            </a:r>
            <a:r>
              <a:rPr lang="en-US" sz="2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konzistentno</a:t>
            </a:r>
            <a:r>
              <a:rPr lang="en-US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stanje</a:t>
            </a:r>
            <a:endParaRPr lang="sr-Latn-RS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r-Latn-RS" sz="20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Isolation-</a:t>
            </a: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govori</a:t>
            </a: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 tome da </a:t>
            </a:r>
            <a:r>
              <a:rPr lang="en-US" sz="1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efekti</a:t>
            </a: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transakcije</a:t>
            </a: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nisu </a:t>
            </a:r>
            <a:r>
              <a:rPr lang="en-US" sz="1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vidljivi</a:t>
            </a: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u </a:t>
            </a:r>
            <a:r>
              <a:rPr lang="en-US" sz="1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drugim</a:t>
            </a: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transakcija</a:t>
            </a: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sve dok se </a:t>
            </a:r>
            <a:r>
              <a:rPr lang="en-US" sz="1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transakcija</a:t>
            </a: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ne </a:t>
            </a:r>
            <a:r>
              <a:rPr lang="en-US" sz="1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komituje</a:t>
            </a:r>
            <a:endParaRPr lang="sr-Latn-RS" sz="20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r-Latn-RS" kern="100" dirty="0">
                <a:ea typeface="Calibri" panose="020F0502020204030204" pitchFamily="34" charset="0"/>
                <a:cs typeface="Times New Roman" panose="02020603050405020304" pitchFamily="18" charset="0"/>
              </a:rPr>
              <a:t>Durability-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govori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 tome da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su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sve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izmene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nad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podacima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nacinjene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tokom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transakcije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trajne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sr-Latn-RS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20014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C67D-138A-606C-F029-A9A8E1A7A6F2}"/>
              </a:ext>
            </a:extLst>
          </p:cNvPr>
          <p:cNvSpPr txBox="1">
            <a:spLocks/>
          </p:cNvSpPr>
          <p:nvPr/>
        </p:nvSpPr>
        <p:spPr>
          <a:xfrm>
            <a:off x="1295400" y="677864"/>
            <a:ext cx="9601200" cy="82207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sr-Latn-RS" dirty="0"/>
              <a:t>Transkacije u MongoDB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A9C16-EB89-C7C7-6C3C-9AABD7C96ED9}"/>
              </a:ext>
            </a:extLst>
          </p:cNvPr>
          <p:cNvSpPr txBox="1">
            <a:spLocks/>
          </p:cNvSpPr>
          <p:nvPr/>
        </p:nvSpPr>
        <p:spPr>
          <a:xfrm>
            <a:off x="1058779" y="1499938"/>
            <a:ext cx="10291010" cy="468019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Pre verzine 4.0  atomičnost  je bila zagarantovano samo po jednom dokumentu</a:t>
            </a:r>
          </a:p>
          <a:p>
            <a:pPr marL="34290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Ukoliko bismo imali neke kompleksne multi-document operacije, morale bi da se rešavaju složenijom aplikacionom logikom </a:t>
            </a:r>
          </a:p>
          <a:p>
            <a:pPr marL="34290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Od MongoDB 4.0 uvedene  su </a:t>
            </a:r>
            <a:r>
              <a:rPr lang="sr-Latn-RS" sz="20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multi-document </a:t>
            </a: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transkacije za replice setova</a:t>
            </a:r>
          </a:p>
          <a:p>
            <a:pPr marL="34290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Od MongoDB 4.2 verzije transkacije su proširene i na </a:t>
            </a:r>
            <a:r>
              <a:rPr lang="sr-Latn-RS" sz="20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sharded clustere </a:t>
            </a: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(samim tim mongo je postao konkurentatn RDBMS-ima u scenarijima koji zahtevaju  ACID svojstva preko više dokumenata i kolekcija)</a:t>
            </a:r>
          </a:p>
          <a:p>
            <a:pPr marL="34290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sr-Latn-RS" sz="20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Životni ciklus jedne transkacije u MongoDb:</a:t>
            </a:r>
          </a:p>
          <a:p>
            <a:pPr marL="457200" indent="-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Kreiranje sesije</a:t>
            </a:r>
          </a:p>
          <a:p>
            <a:pPr marL="457200" indent="-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Početak transakcije</a:t>
            </a:r>
          </a:p>
          <a:p>
            <a:pPr marL="457200" indent="-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Ivršavanje operacije </a:t>
            </a:r>
          </a:p>
          <a:p>
            <a:pPr marL="457200" indent="-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Potvrda (commit) ili poništavanje (abort)</a:t>
            </a:r>
            <a:endParaRPr lang="en-US" sz="20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b="1" dirty="0" err="1"/>
              <a:t>Ograničenja</a:t>
            </a:r>
            <a:r>
              <a:rPr lang="en-US" sz="1900" b="1" dirty="0"/>
              <a:t>:</a:t>
            </a:r>
            <a:r>
              <a:rPr lang="en-US" sz="1900" dirty="0"/>
              <a:t> </a:t>
            </a:r>
            <a:r>
              <a:rPr lang="en-US" sz="1900" dirty="0" err="1"/>
              <a:t>Vremensko</a:t>
            </a:r>
            <a:r>
              <a:rPr lang="en-US" sz="1900" dirty="0"/>
              <a:t> </a:t>
            </a:r>
            <a:r>
              <a:rPr lang="en-US" sz="1900" dirty="0" err="1"/>
              <a:t>ograničenje</a:t>
            </a:r>
            <a:r>
              <a:rPr lang="en-US" sz="1900" dirty="0"/>
              <a:t> od </a:t>
            </a:r>
            <a:r>
              <a:rPr lang="en-US" sz="1900" b="1" dirty="0"/>
              <a:t>60 </a:t>
            </a:r>
            <a:r>
              <a:rPr lang="en-US" sz="1900" b="1" dirty="0" err="1"/>
              <a:t>sekundi</a:t>
            </a:r>
            <a:r>
              <a:rPr lang="en-US" sz="1900" dirty="0"/>
              <a:t> (default) kako bi se </a:t>
            </a:r>
            <a:r>
              <a:rPr lang="en-US" sz="1900" dirty="0" err="1"/>
              <a:t>sprečilo</a:t>
            </a:r>
            <a:r>
              <a:rPr lang="en-US" sz="1900" dirty="0"/>
              <a:t> </a:t>
            </a:r>
            <a:r>
              <a:rPr lang="en-US" sz="1900" dirty="0" err="1"/>
              <a:t>predugo</a:t>
            </a:r>
            <a:r>
              <a:rPr lang="en-US" sz="1900" dirty="0"/>
              <a:t> </a:t>
            </a:r>
            <a:r>
              <a:rPr lang="en-US" sz="1900" dirty="0" err="1"/>
              <a:t>držanje</a:t>
            </a:r>
            <a:r>
              <a:rPr lang="en-US" sz="1900" dirty="0"/>
              <a:t> </a:t>
            </a:r>
            <a:r>
              <a:rPr lang="en-US" sz="1900" dirty="0" err="1"/>
              <a:t>resursa</a:t>
            </a:r>
            <a:r>
              <a:rPr lang="en-US" sz="1900" dirty="0"/>
              <a:t>.</a:t>
            </a:r>
            <a:endParaRPr lang="en-US" sz="26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56505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78F32-F857-A062-09D5-38A0F756B300}"/>
              </a:ext>
            </a:extLst>
          </p:cNvPr>
          <p:cNvSpPr txBox="1">
            <a:spLocks/>
          </p:cNvSpPr>
          <p:nvPr/>
        </p:nvSpPr>
        <p:spPr>
          <a:xfrm>
            <a:off x="1295400" y="669238"/>
            <a:ext cx="9601200" cy="82207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sr-Latn-RS" dirty="0"/>
              <a:t>Primer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4E1E4A-8734-B1AD-9D98-3F2F6D902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113" y="1491312"/>
            <a:ext cx="6127732" cy="41358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38E13B-D35B-92D7-4C69-6238570922DD}"/>
              </a:ext>
            </a:extLst>
          </p:cNvPr>
          <p:cNvSpPr txBox="1"/>
          <p:nvPr/>
        </p:nvSpPr>
        <p:spPr>
          <a:xfrm>
            <a:off x="4701395" y="5719314"/>
            <a:ext cx="2605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Primer transkacije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135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BC693-6C6F-5605-1A10-D4110C2D0010}"/>
              </a:ext>
            </a:extLst>
          </p:cNvPr>
          <p:cNvSpPr txBox="1">
            <a:spLocks/>
          </p:cNvSpPr>
          <p:nvPr/>
        </p:nvSpPr>
        <p:spPr>
          <a:xfrm>
            <a:off x="1295400" y="677864"/>
            <a:ext cx="9601200" cy="82207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sr-Latn-RS" dirty="0"/>
              <a:t>Planovi izvršenja kod MongoDB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0FFC6D-4927-F35B-8651-B8F75081C92E}"/>
              </a:ext>
            </a:extLst>
          </p:cNvPr>
          <p:cNvSpPr txBox="1">
            <a:spLocks/>
          </p:cNvSpPr>
          <p:nvPr/>
        </p:nvSpPr>
        <p:spPr>
          <a:xfrm>
            <a:off x="1058779" y="1499938"/>
            <a:ext cx="10291010" cy="4680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Planovi izvršenja tj execution plan pokazuje kako MongoDB odlučuje da izvrši neki upit uključujući</a:t>
            </a:r>
          </a:p>
          <a:p>
            <a:pPr marL="457200" indent="-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Koji indeks da koristi</a:t>
            </a:r>
          </a:p>
          <a:p>
            <a:pPr marL="457200" indent="-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Koliko dokumenata da skenira</a:t>
            </a:r>
          </a:p>
          <a:p>
            <a:pPr marL="457200" indent="-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Da li radi COLLSCAN tj. skenira celu kolekciju</a:t>
            </a:r>
          </a:p>
          <a:p>
            <a:pPr marL="457200" indent="-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Da li radi IXSCAN tj. Koristi indeks</a:t>
            </a:r>
          </a:p>
          <a:p>
            <a:pPr marL="457200" indent="-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Koliko je koštao upit (execution time, docsExamined)</a:t>
            </a:r>
          </a:p>
          <a:p>
            <a:pPr marL="457200" indent="-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sr-Latn-RS" sz="20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Ne postoji globalni plan transkacije koji se primenjuje nad svakom transkacijom već se pravi plan za svaki upit unutar transakcije</a:t>
            </a: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r-Latn-RS" sz="20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745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D07AA7-2A6C-3EEC-A6BA-372925EDF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33" y="767748"/>
            <a:ext cx="4499018" cy="38905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89240F-E86F-4FA7-28C8-B47E5FCDAD04}"/>
              </a:ext>
            </a:extLst>
          </p:cNvPr>
          <p:cNvSpPr txBox="1"/>
          <p:nvPr/>
        </p:nvSpPr>
        <p:spPr>
          <a:xfrm>
            <a:off x="1061049" y="4960189"/>
            <a:ext cx="3735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Kreiranje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kolekcije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ubacivanje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podataka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F8722-630D-7B9C-D908-E2C14D339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67748"/>
            <a:ext cx="4772025" cy="904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D2DE7B-4CFC-04C3-B2DE-E5C38220BF70}"/>
              </a:ext>
            </a:extLst>
          </p:cNvPr>
          <p:cNvSpPr txBox="1"/>
          <p:nvPr/>
        </p:nvSpPr>
        <p:spPr>
          <a:xfrm>
            <a:off x="6719979" y="1811548"/>
            <a:ext cx="3735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Provera plana izvršenja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9BF169-C72D-7BAC-FF12-867BFE094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812" y="2324100"/>
            <a:ext cx="3954405" cy="22053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3F5A5B-F367-E5AB-FCE9-FBBB8983F26E}"/>
              </a:ext>
            </a:extLst>
          </p:cNvPr>
          <p:cNvSpPr txBox="1"/>
          <p:nvPr/>
        </p:nvSpPr>
        <p:spPr>
          <a:xfrm>
            <a:off x="6719979" y="4806300"/>
            <a:ext cx="3735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Response izvršenog query-ja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17333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1B723-439B-D070-DDF1-AEF7264DF8CF}"/>
              </a:ext>
            </a:extLst>
          </p:cNvPr>
          <p:cNvSpPr txBox="1">
            <a:spLocks/>
          </p:cNvSpPr>
          <p:nvPr/>
        </p:nvSpPr>
        <p:spPr>
          <a:xfrm>
            <a:off x="950495" y="818452"/>
            <a:ext cx="9506103" cy="4680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RS" sz="18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Kako bi izgledao plan izvršenja ukoliko se koristi index?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sr-Latn-RS" sz="1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sr-Latn-RS" sz="1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r-Latn-RS" sz="1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556638-D9BA-4DD0-5044-27E200F0E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705" y="1421022"/>
            <a:ext cx="3369832" cy="30670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5C25A7-896A-B045-D7B3-9DC4570634FA}"/>
              </a:ext>
            </a:extLst>
          </p:cNvPr>
          <p:cNvSpPr txBox="1"/>
          <p:nvPr/>
        </p:nvSpPr>
        <p:spPr>
          <a:xfrm>
            <a:off x="1255481" y="4685583"/>
            <a:ext cx="3226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Izvršenje</a:t>
            </a:r>
            <a:r>
              <a: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query-ja </a:t>
            </a:r>
            <a:r>
              <a:rPr lang="en-US" sz="14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korišćenjem</a:t>
            </a:r>
            <a:r>
              <a: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indeksa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3C39F3-ACD9-273E-864F-978A9332D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543" y="1453576"/>
            <a:ext cx="3695700" cy="1704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7878AE-93D0-6BA5-C552-CB2046F57CD1}"/>
              </a:ext>
            </a:extLst>
          </p:cNvPr>
          <p:cNvSpPr txBox="1"/>
          <p:nvPr/>
        </p:nvSpPr>
        <p:spPr>
          <a:xfrm>
            <a:off x="6096000" y="3391673"/>
            <a:ext cx="347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400" dirty="0"/>
              <a:t>Broj dokumenata koji su obradjeni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387C07-CA0D-8C0D-0B22-2D8F28DDE42D}"/>
              </a:ext>
            </a:extLst>
          </p:cNvPr>
          <p:cNvSpPr txBox="1"/>
          <p:nvPr/>
        </p:nvSpPr>
        <p:spPr>
          <a:xfrm>
            <a:off x="1043796" y="5116218"/>
            <a:ext cx="10343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Execution plan </a:t>
            </a:r>
            <a:r>
              <a:rPr lang="sr-Latn-RS" dirty="0"/>
              <a:t>direktno pokazuje kvalitet i efikasnost upita</a:t>
            </a:r>
            <a:br>
              <a:rPr lang="sr-Latn-RS" dirty="0"/>
            </a:br>
            <a:r>
              <a:rPr lang="sr-Latn-RS" b="1" dirty="0"/>
              <a:t>COLLSCAN</a:t>
            </a:r>
            <a:r>
              <a:rPr lang="sr-Latn-RS" dirty="0"/>
              <a:t>  ukazuje na potrebu za optimizacijom dok </a:t>
            </a:r>
            <a:r>
              <a:rPr lang="sr-Latn-RS" b="1" i="1" dirty="0"/>
              <a:t>IXSCAN</a:t>
            </a:r>
            <a:r>
              <a:rPr lang="sr-Latn-RS" dirty="0"/>
              <a:t> potvrdjuje  da indeks omogućava mnogo brže i skalabilnije izvršavanje u </a:t>
            </a:r>
            <a:r>
              <a:rPr lang="sr-Latn-RS" b="1" i="1" dirty="0"/>
              <a:t>MongoDB-u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089854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F2328-8B28-A94A-A25B-2B3482057837}"/>
              </a:ext>
            </a:extLst>
          </p:cNvPr>
          <p:cNvSpPr txBox="1">
            <a:spLocks/>
          </p:cNvSpPr>
          <p:nvPr/>
        </p:nvSpPr>
        <p:spPr>
          <a:xfrm>
            <a:off x="1295400" y="677864"/>
            <a:ext cx="9601200" cy="75412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sr-Latn-RS" dirty="0"/>
              <a:t>Izolacija u MongoDB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96227-51FF-6822-851D-A30DBC317E1B}"/>
              </a:ext>
            </a:extLst>
          </p:cNvPr>
          <p:cNvSpPr txBox="1">
            <a:spLocks/>
          </p:cNvSpPr>
          <p:nvPr/>
        </p:nvSpPr>
        <p:spPr>
          <a:xfrm>
            <a:off x="950495" y="1431985"/>
            <a:ext cx="10291010" cy="4680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r-Latn-RS" sz="20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93E29E-D177-CECE-C04D-01234413AB59}"/>
              </a:ext>
            </a:extLst>
          </p:cNvPr>
          <p:cNvSpPr txBox="1"/>
          <p:nvPr/>
        </p:nvSpPr>
        <p:spPr>
          <a:xfrm>
            <a:off x="1122720" y="1608827"/>
            <a:ext cx="10118785" cy="3962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b="1" dirty="0"/>
              <a:t>Snapshot Isolation</a:t>
            </a:r>
          </a:p>
          <a:p>
            <a:pPr marL="285750" marR="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transakcija</a:t>
            </a:r>
            <a:r>
              <a:rPr lang="en-US" sz="18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vidi </a:t>
            </a:r>
            <a:r>
              <a:rPr lang="en-US" sz="1800" kern="1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konzistentan</a:t>
            </a:r>
            <a:r>
              <a:rPr lang="en-US" sz="1800" i="1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snapshot</a:t>
            </a:r>
            <a:r>
              <a:rPr lang="en-US" sz="18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baze u </a:t>
            </a:r>
            <a:r>
              <a:rPr lang="en-US" sz="1800" kern="1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trenutku</a:t>
            </a:r>
            <a:r>
              <a:rPr lang="en-US" sz="18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kern="1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starta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ne vidi </a:t>
            </a:r>
            <a:r>
              <a:rPr lang="en-US" sz="1800" kern="1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tuđe</a:t>
            </a:r>
            <a:r>
              <a:rPr lang="en-US" sz="18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promene dok se ne commit-</a:t>
            </a:r>
            <a:r>
              <a:rPr lang="en-US" sz="1800" kern="1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uju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kern="1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nema</a:t>
            </a:r>
            <a:r>
              <a:rPr lang="en-US" sz="18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i="1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dirty reads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kern="1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nema</a:t>
            </a:r>
            <a:r>
              <a:rPr lang="en-US" sz="18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i="1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non-repeatable reads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</a:rPr>
              <a:t>ima</a:t>
            </a:r>
            <a:r>
              <a:rPr lang="en-US" sz="1800" dirty="0">
                <a:effectLst/>
                <a:ea typeface="Calibri" panose="020F0502020204030204" pitchFamily="34" charset="0"/>
              </a:rPr>
              <a:t> </a:t>
            </a:r>
            <a:r>
              <a:rPr lang="en-US" sz="1800" i="1" dirty="0">
                <a:effectLst/>
                <a:ea typeface="Calibri" panose="020F0502020204030204" pitchFamily="34" charset="0"/>
              </a:rPr>
              <a:t>phantom reads</a:t>
            </a:r>
            <a:r>
              <a:rPr lang="en-US" sz="1800" dirty="0">
                <a:effectLst/>
                <a:ea typeface="Calibri" panose="020F0502020204030204" pitchFamily="34" charset="0"/>
              </a:rPr>
              <a:t> samo u </a:t>
            </a:r>
            <a:r>
              <a:rPr lang="en-US" sz="1800" dirty="0" err="1">
                <a:effectLst/>
                <a:ea typeface="Calibri" panose="020F0502020204030204" pitchFamily="34" charset="0"/>
              </a:rPr>
              <a:t>nekim</a:t>
            </a:r>
            <a:r>
              <a:rPr lang="en-US" sz="1800" dirty="0">
                <a:effectLst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</a:rPr>
              <a:t>slučajevima</a:t>
            </a:r>
            <a:r>
              <a:rPr lang="en-US" sz="1800" dirty="0">
                <a:effectLst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</a:rPr>
              <a:t>izvan</a:t>
            </a:r>
            <a:r>
              <a:rPr lang="en-US" sz="1800" dirty="0">
                <a:effectLst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</a:rPr>
              <a:t>transakcija</a:t>
            </a:r>
            <a:endParaRPr lang="sr-Latn-RS" sz="1800" dirty="0">
              <a:effectLst/>
              <a:ea typeface="Calibri" panose="020F0502020204030204" pitchFamily="34" charset="0"/>
            </a:endParaRPr>
          </a:p>
          <a:p>
            <a:endParaRPr lang="sr-Latn-RS" dirty="0">
              <a:ea typeface="Calibri" panose="020F0502020204030204" pitchFamily="34" charset="0"/>
            </a:endParaRPr>
          </a:p>
          <a:p>
            <a:r>
              <a:rPr lang="sr-Latn-RS" dirty="0">
                <a:ea typeface="Calibri" panose="020F0502020204030204" pitchFamily="34" charset="0"/>
              </a:rPr>
              <a:t>Primer: </a:t>
            </a:r>
            <a:r>
              <a:rPr lang="sr-Latn-RS" i="1" dirty="0">
                <a:ea typeface="Calibri" panose="020F0502020204030204" pitchFamily="34" charset="0"/>
              </a:rPr>
              <a:t>Snapshop</a:t>
            </a:r>
            <a:r>
              <a:rPr lang="sr-Latn-RS" dirty="0">
                <a:ea typeface="Calibri" panose="020F0502020204030204" pitchFamily="34" charset="0"/>
              </a:rPr>
              <a:t> izolacija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ea typeface="Calibri" panose="020F0502020204030204" pitchFamily="34" charset="0"/>
              </a:rPr>
              <a:t>Cilj ovog primera jeste da pokažemo da transkacije vidi </a:t>
            </a:r>
            <a:r>
              <a:rPr lang="en-US" dirty="0">
                <a:ea typeface="Calibri" panose="020F0502020204030204" pitchFamily="34" charset="0"/>
              </a:rPr>
              <a:t>“</a:t>
            </a:r>
            <a:r>
              <a:rPr lang="en-US" dirty="0" err="1">
                <a:ea typeface="Calibri" panose="020F0502020204030204" pitchFamily="34" charset="0"/>
              </a:rPr>
              <a:t>zamrznuto</a:t>
            </a:r>
            <a:r>
              <a:rPr lang="en-US" dirty="0">
                <a:ea typeface="Calibri" panose="020F0502020204030204" pitchFamily="34" charset="0"/>
              </a:rPr>
              <a:t>”</a:t>
            </a:r>
            <a:r>
              <a:rPr lang="sr-Latn-RS" dirty="0">
                <a:ea typeface="Calibri" panose="020F0502020204030204" pitchFamily="34" charset="0"/>
              </a:rPr>
              <a:t> čak i kada druge sesije menjaju podatke </a:t>
            </a:r>
          </a:p>
          <a:p>
            <a:endParaRPr lang="sr-Latn-RS" dirty="0">
              <a:ea typeface="Calibri" panose="020F0502020204030204" pitchFamily="34" charset="0"/>
            </a:endParaRPr>
          </a:p>
          <a:p>
            <a:endParaRPr lang="sr-Latn-RS" dirty="0">
              <a:ea typeface="Calibri" panose="020F0502020204030204" pitchFamily="34" charset="0"/>
            </a:endParaRPr>
          </a:p>
          <a:p>
            <a:endParaRPr lang="sr-Latn-R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954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2348DF-BD61-E3C8-1206-B78B76361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497" y="888700"/>
            <a:ext cx="4610100" cy="8191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8660D3-A8DE-36C2-7747-81D7840D3467}"/>
              </a:ext>
            </a:extLst>
          </p:cNvPr>
          <p:cNvSpPr txBox="1"/>
          <p:nvPr/>
        </p:nvSpPr>
        <p:spPr>
          <a:xfrm>
            <a:off x="1682152" y="1802920"/>
            <a:ext cx="23895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Početno</a:t>
            </a:r>
            <a:r>
              <a:rPr lang="en-US" sz="1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stanje</a:t>
            </a:r>
            <a:r>
              <a:rPr lang="en-US" sz="1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US" sz="1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računu</a:t>
            </a:r>
            <a:endParaRPr lang="en-US" sz="1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CA267E-7CC5-4592-DAFD-AEBD48076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857" y="867736"/>
            <a:ext cx="3706846" cy="23103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6F65F0-F2A0-7335-7689-84039BC2DCB3}"/>
              </a:ext>
            </a:extLst>
          </p:cNvPr>
          <p:cNvSpPr txBox="1"/>
          <p:nvPr/>
        </p:nvSpPr>
        <p:spPr>
          <a:xfrm>
            <a:off x="7733500" y="3310619"/>
            <a:ext cx="19259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r-Latn-RS" sz="1400" dirty="0"/>
              <a:t>Sesija A- start transakcije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87FE38-3C40-F01A-F4C5-81BA84478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294" y="2445371"/>
            <a:ext cx="3866798" cy="24322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95E312-20E3-5354-E094-94EE6E184D9A}"/>
              </a:ext>
            </a:extLst>
          </p:cNvPr>
          <p:cNvSpPr txBox="1"/>
          <p:nvPr/>
        </p:nvSpPr>
        <p:spPr>
          <a:xfrm>
            <a:off x="1608587" y="5094260"/>
            <a:ext cx="2875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r-Latn-RS" sz="1400" dirty="0"/>
              <a:t>Sesija B-menja podatke van transakcije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7AC523-69ED-7F81-E700-E10515923B53}"/>
              </a:ext>
            </a:extLst>
          </p:cNvPr>
          <p:cNvSpPr txBox="1"/>
          <p:nvPr/>
        </p:nvSpPr>
        <p:spPr>
          <a:xfrm>
            <a:off x="5640597" y="3812521"/>
            <a:ext cx="54529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/>
              <a:t>Proveravamo stanje podataka direktno u bazi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/>
              <a:t>Očekujemo da je stanje na računu sada 999 zato što smo ga updatovali iz sesije B</a:t>
            </a:r>
            <a:endParaRPr lang="en-US" sz="1600" dirty="0"/>
          </a:p>
          <a:p>
            <a:br>
              <a:rPr lang="sr-Latn-RS" dirty="0"/>
            </a:b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312AEF-D50F-A859-A476-EFCD8FB1C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368" y="4746915"/>
            <a:ext cx="4329430" cy="6946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869513-4D3D-8D60-847B-D31E50971746}"/>
              </a:ext>
            </a:extLst>
          </p:cNvPr>
          <p:cNvSpPr txBox="1"/>
          <p:nvPr/>
        </p:nvSpPr>
        <p:spPr>
          <a:xfrm>
            <a:off x="6745857" y="5647321"/>
            <a:ext cx="321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dirty="0"/>
              <a:t>Uspešno updatovano stanje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19393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2024F-B50A-4A96-B314-2CB7460E6B53}"/>
              </a:ext>
            </a:extLst>
          </p:cNvPr>
          <p:cNvSpPr txBox="1"/>
          <p:nvPr/>
        </p:nvSpPr>
        <p:spPr>
          <a:xfrm>
            <a:off x="966158" y="897147"/>
            <a:ext cx="933378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Međutim ukooliko i dalje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ukoliko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I dalje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potražimo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podatke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iz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SesijeA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trebali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bismo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da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dobijemo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da je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stanje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na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računu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dalje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nepromenjeno</a:t>
            </a:r>
            <a:endParaRPr lang="sr-Latn-RS" dirty="0">
              <a:solidFill>
                <a:srgbClr val="000000"/>
              </a:solidFill>
              <a:effectLst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97ED5C-06B5-5EA8-3BD9-078EB600B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761" y="1882032"/>
            <a:ext cx="4143375" cy="14763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A0CC62-1773-BD16-AB20-AE622CCB65D3}"/>
              </a:ext>
            </a:extLst>
          </p:cNvPr>
          <p:cNvSpPr txBox="1"/>
          <p:nvPr/>
        </p:nvSpPr>
        <p:spPr>
          <a:xfrm>
            <a:off x="1787104" y="3674853"/>
            <a:ext cx="3424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Stanje</a:t>
            </a:r>
            <a:r>
              <a: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računu</a:t>
            </a:r>
            <a:r>
              <a: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je </a:t>
            </a:r>
            <a:r>
              <a:rPr lang="en-US" sz="14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dalje </a:t>
            </a:r>
            <a:r>
              <a:rPr lang="en-US" sz="14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nepromenjeno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66804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C62B8C-F182-58E9-649C-A319391516DA}"/>
              </a:ext>
            </a:extLst>
          </p:cNvPr>
          <p:cNvSpPr txBox="1"/>
          <p:nvPr/>
        </p:nvSpPr>
        <p:spPr>
          <a:xfrm>
            <a:off x="1078302" y="914400"/>
            <a:ext cx="78672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Primer slabosti Snapshot isolation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 </a:t>
            </a:r>
            <a:r>
              <a:rPr lang="en-US" dirty="0" err="1"/>
              <a:t>bolnici</a:t>
            </a:r>
            <a:r>
              <a:rPr lang="en-US" dirty="0"/>
              <a:t> </a:t>
            </a:r>
            <a:r>
              <a:rPr lang="en-US" dirty="0" err="1"/>
              <a:t>moraju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2 </a:t>
            </a:r>
            <a:r>
              <a:rPr lang="en-US" dirty="0" err="1"/>
              <a:t>doktora</a:t>
            </a:r>
            <a:r>
              <a:rPr lang="en-US" dirty="0"/>
              <a:t> de</a:t>
            </a:r>
            <a:r>
              <a:rPr lang="sr-Latn-RS" dirty="0"/>
              <a:t>žurna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Svaki vidi snapshot gde je drugi još uvek dežuran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Ukoliko se desi da se obojica odjave, broj doktora pada na 0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18426C-E219-A452-9FFA-9263BBD9A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85" y="2232624"/>
            <a:ext cx="3857625" cy="1771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002389-D5C1-35E4-C38A-CD88ECCB6589}"/>
              </a:ext>
            </a:extLst>
          </p:cNvPr>
          <p:cNvSpPr txBox="1"/>
          <p:nvPr/>
        </p:nvSpPr>
        <p:spPr>
          <a:xfrm>
            <a:off x="1483742" y="4079689"/>
            <a:ext cx="3183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dirty="0"/>
              <a:t>Insertovanje 2 doktora u bazi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7CD20F-2FA0-9BAD-93F6-184D9B223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409" y="2193226"/>
            <a:ext cx="3695932" cy="18110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DF69EC-69F5-FB68-181B-F63FD496C6E2}"/>
              </a:ext>
            </a:extLst>
          </p:cNvPr>
          <p:cNvSpPr txBox="1"/>
          <p:nvPr/>
        </p:nvSpPr>
        <p:spPr>
          <a:xfrm>
            <a:off x="7535801" y="4258851"/>
            <a:ext cx="3183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dirty="0"/>
              <a:t>Doktor A gleda stanje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85680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ADD203-43E1-2659-CB56-83C4546273EF}"/>
              </a:ext>
            </a:extLst>
          </p:cNvPr>
          <p:cNvSpPr txBox="1"/>
          <p:nvPr/>
        </p:nvSpPr>
        <p:spPr>
          <a:xfrm>
            <a:off x="923026" y="802257"/>
            <a:ext cx="1040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Zbog toga doktor A odlučuje da se odjavi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645A47-3DD3-BA0A-65CE-DB359B5D3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466" y="1346379"/>
            <a:ext cx="4960519" cy="15848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086A80-B222-1947-084E-4F731F8B1E73}"/>
              </a:ext>
            </a:extLst>
          </p:cNvPr>
          <p:cNvSpPr txBox="1"/>
          <p:nvPr/>
        </p:nvSpPr>
        <p:spPr>
          <a:xfrm>
            <a:off x="1696053" y="3015870"/>
            <a:ext cx="3183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dirty="0"/>
              <a:t>Doktor A odlučuje da se odjavi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D3B68-ACCD-55E5-679D-9F32623E5EDE}"/>
              </a:ext>
            </a:extLst>
          </p:cNvPr>
          <p:cNvSpPr txBox="1"/>
          <p:nvPr/>
        </p:nvSpPr>
        <p:spPr>
          <a:xfrm>
            <a:off x="894271" y="5830040"/>
            <a:ext cx="1040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/>
              <a:t>Izvršava</a:t>
            </a:r>
            <a:r>
              <a:rPr lang="en-US" sz="1400" dirty="0" err="1"/>
              <a:t>ju</a:t>
            </a:r>
            <a:r>
              <a:rPr lang="sr-Latn-RS" sz="1400" dirty="0"/>
              <a:t> se commit</a:t>
            </a:r>
            <a:r>
              <a:rPr lang="en-US" sz="1400" dirty="0"/>
              <a:t>-I </a:t>
            </a:r>
            <a:r>
              <a:rPr lang="en-US" sz="1400" dirty="0" err="1"/>
              <a:t>obe</a:t>
            </a:r>
            <a:r>
              <a:rPr lang="sr-Latn-RS" sz="1400" dirty="0"/>
              <a:t> transakcije</a:t>
            </a:r>
            <a:r>
              <a:rPr lang="sr-Latn-RS" dirty="0"/>
              <a:t>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838B7C-BAA4-9555-3B62-55D44FB1F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602" y="1218653"/>
            <a:ext cx="3695932" cy="17126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80F28C-A4B3-50E7-9C4F-296C856FF476}"/>
              </a:ext>
            </a:extLst>
          </p:cNvPr>
          <p:cNvSpPr txBox="1"/>
          <p:nvPr/>
        </p:nvSpPr>
        <p:spPr>
          <a:xfrm>
            <a:off x="7452601" y="3202510"/>
            <a:ext cx="3695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dirty="0"/>
              <a:t>Doktor B vidi da su oba doktora na dužnosti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1A7D95-F6B3-F499-FBF2-1F53DEFDF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466" y="3861202"/>
            <a:ext cx="4900134" cy="14456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DD4411-F689-34B6-980C-E970E2356985}"/>
              </a:ext>
            </a:extLst>
          </p:cNvPr>
          <p:cNvSpPr txBox="1"/>
          <p:nvPr/>
        </p:nvSpPr>
        <p:spPr>
          <a:xfrm>
            <a:off x="1635668" y="5439175"/>
            <a:ext cx="3183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dirty="0"/>
              <a:t>Doktor B odlučuje da se odjavi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4FEBB8-6F2F-71B6-0A0F-2761BC549F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2852" y="3674397"/>
            <a:ext cx="3971925" cy="18192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45CCE37-5081-7F62-B752-6F5830EBC31C}"/>
              </a:ext>
            </a:extLst>
          </p:cNvPr>
          <p:cNvSpPr txBox="1"/>
          <p:nvPr/>
        </p:nvSpPr>
        <p:spPr>
          <a:xfrm>
            <a:off x="6935638" y="5576760"/>
            <a:ext cx="4580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dirty="0"/>
              <a:t>Nakon provera stanja baze nijedan doktor više nije na dužnosti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05083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C37702-C604-66D4-ECB5-4D57D766FB19}"/>
              </a:ext>
            </a:extLst>
          </p:cNvPr>
          <p:cNvSpPr txBox="1"/>
          <p:nvPr/>
        </p:nvSpPr>
        <p:spPr>
          <a:xfrm>
            <a:off x="948904" y="854015"/>
            <a:ext cx="103948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/>
              <a:t>Phantom reads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r-Latn-RS" sz="2000" dirty="0"/>
              <a:t>Phantom read je pojava kada isti upit vraća različite rezultate u dva utastopna čitanja, jer su novi dokumenti insertovani od strane druge transakcije 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ACB340-3C02-8938-AD49-96BD3EB6D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58" y="1938690"/>
            <a:ext cx="3043073" cy="16412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EFD5E4-8105-4B48-BD63-D211BC7C09AD}"/>
              </a:ext>
            </a:extLst>
          </p:cNvPr>
          <p:cNvSpPr txBox="1"/>
          <p:nvPr/>
        </p:nvSpPr>
        <p:spPr>
          <a:xfrm>
            <a:off x="948904" y="3648975"/>
            <a:ext cx="3617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dirty="0"/>
              <a:t>Trenutno kolekcija values ima 2 dokumenta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A5E50A-5EDE-49BC-881A-8D35D8530978}"/>
              </a:ext>
            </a:extLst>
          </p:cNvPr>
          <p:cNvSpPr txBox="1"/>
          <p:nvPr/>
        </p:nvSpPr>
        <p:spPr>
          <a:xfrm>
            <a:off x="948904" y="4025764"/>
            <a:ext cx="3908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Drugi korisnik dodaje novi dokument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F2218C-4483-0887-BE71-2CF99FF1DF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169"/>
          <a:stretch/>
        </p:blipFill>
        <p:spPr>
          <a:xfrm>
            <a:off x="948904" y="4520130"/>
            <a:ext cx="5791200" cy="5232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62F90E-2BA1-2D15-248B-681886E65CF2}"/>
              </a:ext>
            </a:extLst>
          </p:cNvPr>
          <p:cNvSpPr txBox="1"/>
          <p:nvPr/>
        </p:nvSpPr>
        <p:spPr>
          <a:xfrm>
            <a:off x="801530" y="4988831"/>
            <a:ext cx="3617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dirty="0"/>
              <a:t>Insertovanje novog dokumenta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84809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7877D3-0915-29D9-089C-75BC2340FD6E}"/>
              </a:ext>
            </a:extLst>
          </p:cNvPr>
          <p:cNvSpPr txBox="1"/>
          <p:nvPr/>
        </p:nvSpPr>
        <p:spPr>
          <a:xfrm>
            <a:off x="1069675" y="810883"/>
            <a:ext cx="4218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Sada ce nam upit,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3E75AF-AAC4-4956-25D8-CDB753D905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41"/>
          <a:stretch/>
        </p:blipFill>
        <p:spPr>
          <a:xfrm>
            <a:off x="1069675" y="1246532"/>
            <a:ext cx="5505450" cy="4426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FD737F-8646-761F-7868-4D69657F4A3F}"/>
              </a:ext>
            </a:extLst>
          </p:cNvPr>
          <p:cNvSpPr txBox="1"/>
          <p:nvPr/>
        </p:nvSpPr>
        <p:spPr>
          <a:xfrm>
            <a:off x="1138687" y="1702129"/>
            <a:ext cx="4218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Vratiti 3 vrednosti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860C6A-A9F2-F9EE-C8EA-CEAF8FDB78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161"/>
          <a:stretch/>
        </p:blipFill>
        <p:spPr>
          <a:xfrm>
            <a:off x="1210214" y="2191140"/>
            <a:ext cx="3905250" cy="3118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025AF6-821D-A6DB-A606-17E5988A15DE}"/>
              </a:ext>
            </a:extLst>
          </p:cNvPr>
          <p:cNvSpPr txBox="1"/>
          <p:nvPr/>
        </p:nvSpPr>
        <p:spPr>
          <a:xfrm>
            <a:off x="1371600" y="5457579"/>
            <a:ext cx="2751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dirty="0"/>
              <a:t>Kolekcija values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DC3DF2-B270-1E93-F4B9-9880A26BA2FF}"/>
              </a:ext>
            </a:extLst>
          </p:cNvPr>
          <p:cNvSpPr txBox="1"/>
          <p:nvPr/>
        </p:nvSpPr>
        <p:spPr>
          <a:xfrm>
            <a:off x="5525218" y="2564553"/>
            <a:ext cx="6116128" cy="2125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29464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Da </a:t>
            </a:r>
            <a:r>
              <a:rPr lang="en-US" sz="1800" kern="1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sumiramo</a:t>
            </a:r>
            <a:r>
              <a:rPr lang="en-US" sz="18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i="1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Phantom read</a:t>
            </a:r>
            <a:r>
              <a:rPr lang="en-US" sz="18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: isti </a:t>
            </a:r>
            <a:r>
              <a:rPr lang="en-US" sz="1800" kern="1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upit</a:t>
            </a:r>
            <a:r>
              <a:rPr lang="en-US" sz="18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kern="1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vraća</a:t>
            </a:r>
            <a:r>
              <a:rPr lang="en-US" sz="18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kern="1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različite</a:t>
            </a:r>
            <a:r>
              <a:rPr lang="en-US" sz="18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kern="1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rezultate</a:t>
            </a:r>
            <a:r>
              <a:rPr lang="en-US" sz="18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zbog </a:t>
            </a:r>
            <a:r>
              <a:rPr lang="en-US" sz="1800" kern="1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novih</a:t>
            </a:r>
            <a:r>
              <a:rPr lang="en-US" sz="18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kern="1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dokumenata</a:t>
            </a:r>
            <a:r>
              <a:rPr lang="en-US" sz="18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kern="1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umetnutih</a:t>
            </a:r>
            <a:r>
              <a:rPr lang="en-US" sz="18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od strane </a:t>
            </a:r>
            <a:r>
              <a:rPr lang="en-US" sz="1800" kern="1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drugih</a:t>
            </a:r>
            <a:r>
              <a:rPr lang="en-US" sz="18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kern="1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sesija</a:t>
            </a:r>
            <a:r>
              <a:rPr lang="en-US" sz="18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b="1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Van </a:t>
            </a:r>
            <a:r>
              <a:rPr lang="en-US" sz="1800" b="1" kern="1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transakcija</a:t>
            </a:r>
            <a:r>
              <a:rPr lang="en-US" sz="18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sz="1800" i="1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MongoDB</a:t>
            </a:r>
            <a:r>
              <a:rPr lang="en-US" sz="18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kern="1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dozvoljava</a:t>
            </a:r>
            <a:r>
              <a:rPr lang="en-US" sz="18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phantom reads.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Unutar </a:t>
            </a:r>
            <a:r>
              <a:rPr lang="en-US" sz="1800" b="1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transakcije</a:t>
            </a:r>
            <a:r>
              <a:rPr lang="en-US" sz="18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b="1" i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(snapshot isolation</a:t>
            </a:r>
            <a:r>
              <a:rPr lang="en-US" sz="18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→ </a:t>
            </a:r>
            <a:r>
              <a:rPr lang="en-US" sz="1800" i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phantom reads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se NE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dešavaju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upit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vidi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konzistentan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i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snapshot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067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F11CB-5E15-EE87-8768-6F4473BA8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Zaključavanje u MongoDB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5BA1-17DF-F736-967E-9A2F5E19E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Kod relacionih baza (npr PosgreSQl) zaključavanje je pesimističko – transakcije prvo stavi </a:t>
            </a:r>
            <a:r>
              <a:rPr lang="en-US" dirty="0"/>
              <a:t>“</a:t>
            </a:r>
            <a:r>
              <a:rPr lang="en-US" dirty="0" err="1"/>
              <a:t>katanac</a:t>
            </a:r>
            <a:r>
              <a:rPr lang="en-US" dirty="0"/>
              <a:t>”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redove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 I </a:t>
            </a:r>
            <a:r>
              <a:rPr lang="en-US" dirty="0" err="1"/>
              <a:t>dr</a:t>
            </a:r>
            <a:r>
              <a:rPr lang="sr-Latn-RS" dirty="0"/>
              <a:t>ži dok ne završi</a:t>
            </a:r>
          </a:p>
          <a:p>
            <a:r>
              <a:rPr lang="sr-Latn-RS" dirty="0"/>
              <a:t>To sprečava konfilkte ali može dovesti do čekanja i deadlockova</a:t>
            </a:r>
          </a:p>
          <a:p>
            <a:r>
              <a:rPr lang="sr-Latn-RS" dirty="0"/>
              <a:t>MongoDB od verzije 3.2 koristi potpuno drugačiji pristup</a:t>
            </a:r>
          </a:p>
          <a:p>
            <a:r>
              <a:rPr lang="sr-Latn-RS" dirty="0"/>
              <a:t>Nema više klasičnih zaključavanja koje korisnik vidi </a:t>
            </a:r>
          </a:p>
          <a:p>
            <a:r>
              <a:rPr lang="sr-Latn-RS" dirty="0"/>
              <a:t>MongoDB koristi optimističku korntrolu konkurentnosti</a:t>
            </a:r>
          </a:p>
          <a:p>
            <a:endParaRPr lang="sr-Latn-R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873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D2C9D9-A404-35C3-3345-698BBFC95DCE}"/>
              </a:ext>
            </a:extLst>
          </p:cNvPr>
          <p:cNvSpPr txBox="1"/>
          <p:nvPr/>
        </p:nvSpPr>
        <p:spPr>
          <a:xfrm>
            <a:off x="1052422" y="3269410"/>
            <a:ext cx="101791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 Od verzije 4.2. – kada više transkcija pokušava da menja isti dokument, MongoDB ne blokira nijednu od njih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Konflikt nastaje tek u trenutku commit-a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WiredTiger proverava da li je dokument u medjuvremenu izmenjen, ukoliko jeste transkacije se pokreće ispočetka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Ne postoji deadlock – jedna transakcije se žrtvuje i ponavlja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66A6CA-EBD6-72D7-A87B-625A387E2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023" y="678390"/>
            <a:ext cx="9211034" cy="227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93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253744-6122-9DC1-1846-9F5A0D4A3392}"/>
              </a:ext>
            </a:extLst>
          </p:cNvPr>
          <p:cNvSpPr txBox="1"/>
          <p:nvPr/>
        </p:nvSpPr>
        <p:spPr>
          <a:xfrm>
            <a:off x="905773" y="767750"/>
            <a:ext cx="10179169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400" dirty="0"/>
              <a:t> Prednosti i mane optimističkog zaključavanja</a:t>
            </a:r>
          </a:p>
          <a:p>
            <a:endParaRPr lang="sr-Latn-RS" sz="2400" dirty="0"/>
          </a:p>
          <a:p>
            <a:r>
              <a:rPr lang="sr-Latn-RS" b="1" dirty="0"/>
              <a:t>Prednost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/>
              <a:t>Odlične performanse kada je mala verovatnoća sukoba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/>
              <a:t>Čitanje nikad ne čeka pisanje i obrnuto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/>
              <a:t>Nema deadlockova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/>
              <a:t>Veliki broj paralelnih operacija</a:t>
            </a:r>
          </a:p>
          <a:p>
            <a:endParaRPr lang="sr-Latn-RS" sz="2000" dirty="0"/>
          </a:p>
          <a:p>
            <a:r>
              <a:rPr lang="sr-Latn-RS" b="1" dirty="0"/>
              <a:t>Mane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/>
              <a:t>Kod velikog roja sukoba, dolazi do mnogo ponavljanja samim tim i pada performansi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/>
              <a:t>Aplikacija mora biti spremna na automatsko ponavlajanje transkacije (troši se procesor)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sz="1600" dirty="0"/>
          </a:p>
          <a:p>
            <a:r>
              <a:rPr lang="sr-Latn-RS" sz="1600" dirty="0"/>
              <a:t>Kada se zapravo koristi pravo (</a:t>
            </a:r>
            <a:r>
              <a:rPr lang="sr-Latn-RS" sz="1600" b="1" dirty="0"/>
              <a:t>pesimističko</a:t>
            </a:r>
            <a:r>
              <a:rPr lang="sr-Latn-RS" sz="1600" dirty="0"/>
              <a:t>) zaključavanje?</a:t>
            </a:r>
          </a:p>
          <a:p>
            <a:endParaRPr lang="sr-Latn-R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/>
              <a:t>Kreiranje indeksa u pozadini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/>
              <a:t>Brisanje cele baze ili kolekcije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/>
              <a:t>Initial sync replica seta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sz="1600" dirty="0"/>
          </a:p>
          <a:p>
            <a:r>
              <a:rPr lang="sr-Latn-RS" sz="1600" dirty="0"/>
              <a:t>Ovi poslovi su blokirajući ali se ne odnose na obične korisničke transakcije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270527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1411</TotalTime>
  <Words>1000</Words>
  <Application>Microsoft Office PowerPoint</Application>
  <PresentationFormat>Widescreen</PresentationFormat>
  <Paragraphs>133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Garamond</vt:lpstr>
      <vt:lpstr>Symbol</vt:lpstr>
      <vt:lpstr>Organic</vt:lpstr>
      <vt:lpstr>Obrada transakcija, planovi izvrsavanja transkacija, izolacija i zakljucavanje kod Mongo DB baze podataka</vt:lpstr>
      <vt:lpstr>Sadržaj</vt:lpstr>
      <vt:lpstr>Uvod i cilj projekta</vt:lpstr>
      <vt:lpstr>Transkacije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Zaključavanje u MongoDB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Petar Mancic</dc:creator>
  <cp:lastModifiedBy>Petar Mancic</cp:lastModifiedBy>
  <cp:revision>30</cp:revision>
  <dcterms:created xsi:type="dcterms:W3CDTF">2026-01-18T12:54:43Z</dcterms:created>
  <dcterms:modified xsi:type="dcterms:W3CDTF">2026-01-19T16:32:02Z</dcterms:modified>
</cp:coreProperties>
</file>